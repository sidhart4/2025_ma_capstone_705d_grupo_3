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4630400" cy="8229600"/>
  <p:notesSz cx="8229600" cy="14630400"/>
  <p:embeddedFontLst>
    <p:embeddedFont>
      <p:font typeface="Alexandria Semi Bold"/>
      <p:regular r:id="rId24"/>
    </p:embeddedFont>
    <p:embeddedFont>
      <p:font typeface="Alexandria Semi Bold"/>
      <p:regular r:id="rId25"/>
    </p:embeddedFont>
    <p:embeddedFont>
      <p:font typeface="Sora Light"/>
      <p:regular r:id="rId26"/>
    </p:embeddedFont>
    <p:embeddedFont>
      <p:font typeface="Sora Light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image" Target="../media/image-15-6.png"/><Relationship Id="rId7" Type="http://schemas.openxmlformats.org/officeDocument/2006/relationships/image" Target="../media/image-15-7.svg"/><Relationship Id="rId8" Type="http://schemas.openxmlformats.org/officeDocument/2006/relationships/slideLayout" Target="../slideLayouts/slideLayout16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image" Target="../media/image-16-6.png"/><Relationship Id="rId7" Type="http://schemas.openxmlformats.org/officeDocument/2006/relationships/image" Target="../media/image-16-7.svg"/><Relationship Id="rId8" Type="http://schemas.openxmlformats.org/officeDocument/2006/relationships/slideLayout" Target="../slideLayouts/slideLayout17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0"/>
            <a:ext cx="466344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228136"/>
            <a:ext cx="7627382" cy="983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AKUNA NO PET 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44709" y="353663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Arquitectura de Software y Estrategia para Modernizar Clínicas Veterinarias.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447377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Transformando el caos operativo en claridad digital.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506420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Profesor: Ricardo Aravena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565463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Integrantes: Mario Galarce, Roberto Olguín, Álvaro Quiroz.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865709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Contexto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2760702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Clínicas veterinarias con procesos manuales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3183136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Agendas en papel, WhatsApp, fichas físicas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309" y="360557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Poca trazabilidad de información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309" y="4277201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Problema</a:t>
            </a:r>
            <a:endParaRPr lang="en-US" sz="3550" dirty="0"/>
          </a:p>
        </p:txBody>
      </p:sp>
      <p:sp>
        <p:nvSpPr>
          <p:cNvPr id="8" name="Text 5"/>
          <p:cNvSpPr/>
          <p:nvPr/>
        </p:nvSpPr>
        <p:spPr>
          <a:xfrm>
            <a:off x="758309" y="517219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Duplicidad de información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8309" y="559462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Pérdida de tiempo en la gestión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6017062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Poca trazabilidad de pacientes y ventas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913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587" y="3364230"/>
            <a:ext cx="5245060" cy="65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El caos analógico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97587" y="4318754"/>
            <a:ext cx="1323522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¿Por qué seguir usando papel en un mundo digital? La gestión tradicional frena el crecimiento y la eficiencia de tu clínica.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7587" y="4861798"/>
            <a:ext cx="4278868" cy="2494836"/>
          </a:xfrm>
          <a:prstGeom prst="roundRect">
            <a:avLst>
              <a:gd name="adj" fmla="val 4398"/>
            </a:avLst>
          </a:prstGeom>
          <a:solidFill>
            <a:srgbClr val="FFFAFA"/>
          </a:solidFill>
          <a:ln w="22860">
            <a:solidFill>
              <a:srgbClr val="5E208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4727" y="4861798"/>
            <a:ext cx="91440" cy="2494836"/>
          </a:xfrm>
          <a:prstGeom prst="roundRect">
            <a:avLst>
              <a:gd name="adj" fmla="val 91549"/>
            </a:avLst>
          </a:prstGeom>
          <a:solidFill>
            <a:srgbClr val="5E208E"/>
          </a:solidFill>
          <a:ln/>
        </p:spPr>
      </p:sp>
      <p:sp>
        <p:nvSpPr>
          <p:cNvPr id="7" name="Text 4"/>
          <p:cNvSpPr/>
          <p:nvPr/>
        </p:nvSpPr>
        <p:spPr>
          <a:xfrm>
            <a:off x="988338" y="5083969"/>
            <a:ext cx="2918579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Desconexión de datos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88338" y="5531287"/>
            <a:ext cx="3765947" cy="127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 agenda de citas (papel o calendarios) no se comunica con las fichas médicas (Excel o físicas), creando silos de información.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175766" y="4861798"/>
            <a:ext cx="4278868" cy="2494836"/>
          </a:xfrm>
          <a:prstGeom prst="roundRect">
            <a:avLst>
              <a:gd name="adj" fmla="val 4398"/>
            </a:avLst>
          </a:prstGeom>
          <a:solidFill>
            <a:srgbClr val="FFFAFA"/>
          </a:solidFill>
          <a:ln w="22860">
            <a:solidFill>
              <a:srgbClr val="5E208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52906" y="4861798"/>
            <a:ext cx="91440" cy="2494836"/>
          </a:xfrm>
          <a:prstGeom prst="roundRect">
            <a:avLst>
              <a:gd name="adj" fmla="val 91549"/>
            </a:avLst>
          </a:prstGeom>
          <a:solidFill>
            <a:srgbClr val="5E208E"/>
          </a:solidFill>
          <a:ln/>
        </p:spPr>
      </p:sp>
      <p:sp>
        <p:nvSpPr>
          <p:cNvPr id="11" name="Text 8"/>
          <p:cNvSpPr/>
          <p:nvPr/>
        </p:nvSpPr>
        <p:spPr>
          <a:xfrm>
            <a:off x="5466517" y="5083969"/>
            <a:ext cx="2819281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Información dispersa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5466517" y="5531287"/>
            <a:ext cx="3765947" cy="127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Las ventas, el stock y el historial de pacientes residen en sistemas separados, dificultando una visión integral del negocio.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9653945" y="4861798"/>
            <a:ext cx="4278868" cy="2494836"/>
          </a:xfrm>
          <a:prstGeom prst="roundRect">
            <a:avLst>
              <a:gd name="adj" fmla="val 4398"/>
            </a:avLst>
          </a:prstGeom>
          <a:solidFill>
            <a:srgbClr val="FFFAFA"/>
          </a:solidFill>
          <a:ln w="22860">
            <a:solidFill>
              <a:srgbClr val="5E208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31085" y="4861798"/>
            <a:ext cx="91440" cy="2494836"/>
          </a:xfrm>
          <a:prstGeom prst="roundRect">
            <a:avLst>
              <a:gd name="adj" fmla="val 91549"/>
            </a:avLst>
          </a:prstGeom>
          <a:solidFill>
            <a:srgbClr val="5E208E"/>
          </a:solidFill>
          <a:ln/>
        </p:spPr>
      </p:sp>
      <p:sp>
        <p:nvSpPr>
          <p:cNvPr id="15" name="Text 12"/>
          <p:cNvSpPr/>
          <p:nvPr/>
        </p:nvSpPr>
        <p:spPr>
          <a:xfrm>
            <a:off x="9944695" y="5083969"/>
            <a:ext cx="3765947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Ineficiencia y oportunidades perdidas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9944695" y="5859066"/>
            <a:ext cx="3765947" cy="127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Esta fragmentación conduce a una operativa ineficiente y a la imposibilidad de aprovechar datos para marketing personalizado.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11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832" y="3258741"/>
            <a:ext cx="6121956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Objetivo del Proyecto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47832" y="4046934"/>
            <a:ext cx="2811661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General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7832" y="4718923"/>
            <a:ext cx="13134737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Diseñar e implementar un sistema de gestión híbrido que centralice la operación de la clínica veterinaria Akuma no Pet.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47832" y="5381387"/>
            <a:ext cx="2811661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Específicos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47832" y="6053376"/>
            <a:ext cx="13134737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Digitalizar el agendamiento de citas.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7832" y="6470094"/>
            <a:ext cx="13134737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Centralizar fichas clínicas en un repositorio único.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7832" y="6886813"/>
            <a:ext cx="13134737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Integrar ventas de productos con control de inventario.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47832" y="7303532"/>
            <a:ext cx="13134737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Asegurar la trazabilidad de la información del paciente.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56504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Solución Propuesta: Sistema de Gestión Híbrido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415189"/>
            <a:ext cx="4371261" cy="866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884" y="4498300"/>
            <a:ext cx="316884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Página Web (Clientes)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74884" y="4984432"/>
            <a:ext cx="393811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Agendar / cancelar citas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74884" y="5406866"/>
            <a:ext cx="393811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Comprar productos online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70" y="3415189"/>
            <a:ext cx="4371261" cy="8665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6144" y="4498300"/>
            <a:ext cx="393811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Backend (API Django + PostgreSQL)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46144" y="5340668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Núcleo central, lógica de negocio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346144" y="6109811"/>
            <a:ext cx="393811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Seguridad JWT, acceso a datos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830" y="3415189"/>
            <a:ext cx="4371261" cy="8665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7405" y="4498300"/>
            <a:ext cx="393811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Sistema de Escritorio (Personal)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717405" y="5340668"/>
            <a:ext cx="393811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Agenda completa de la clínica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9717405" y="5763101"/>
            <a:ext cx="393811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Fichas clínicas e inventario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7223" y="500658"/>
            <a:ext cx="6271617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Arquitectura del Proyecto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637223" y="1463754"/>
            <a:ext cx="13355955" cy="1109663"/>
          </a:xfrm>
          <a:prstGeom prst="roundRect">
            <a:avLst>
              <a:gd name="adj" fmla="val 6892"/>
            </a:avLst>
          </a:prstGeom>
          <a:solidFill>
            <a:srgbClr val="FFFAFA"/>
          </a:solidFill>
          <a:ln w="22860">
            <a:solidFill>
              <a:srgbClr val="5E20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0083" y="1486614"/>
            <a:ext cx="182047" cy="1063943"/>
          </a:xfrm>
          <a:prstGeom prst="roundRect">
            <a:avLst>
              <a:gd name="adj" fmla="val 26943"/>
            </a:avLst>
          </a:prstGeom>
          <a:solidFill>
            <a:srgbClr val="5E208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76" y="1668661"/>
            <a:ext cx="2490907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Capa 1 - Datos (Base)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24176" y="2077283"/>
            <a:ext cx="12946142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Base de datos PostgreSQL en la nube con respaldos automáticos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0352" y="2755463"/>
            <a:ext cx="13082826" cy="1109663"/>
          </a:xfrm>
          <a:prstGeom prst="roundRect">
            <a:avLst>
              <a:gd name="adj" fmla="val 6892"/>
            </a:avLst>
          </a:prstGeom>
          <a:solidFill>
            <a:srgbClr val="FFFAFA"/>
          </a:solidFill>
          <a:ln w="22860">
            <a:solidFill>
              <a:srgbClr val="5E20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3212" y="2778323"/>
            <a:ext cx="182047" cy="1063943"/>
          </a:xfrm>
          <a:prstGeom prst="roundRect">
            <a:avLst>
              <a:gd name="adj" fmla="val 26943"/>
            </a:avLst>
          </a:prstGeom>
          <a:solidFill>
            <a:srgbClr val="5E208E"/>
          </a:solidFill>
          <a:ln/>
        </p:spPr>
      </p:sp>
      <p:sp>
        <p:nvSpPr>
          <p:cNvPr id="9" name="Text 7"/>
          <p:cNvSpPr/>
          <p:nvPr/>
        </p:nvSpPr>
        <p:spPr>
          <a:xfrm>
            <a:off x="1297305" y="2960370"/>
            <a:ext cx="239589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Capa 2 - Lógica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297305" y="3368993"/>
            <a:ext cx="12673013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API Django con reglas de negocio y endpoints seguros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3481" y="4047173"/>
            <a:ext cx="12809696" cy="1109663"/>
          </a:xfrm>
          <a:prstGeom prst="roundRect">
            <a:avLst>
              <a:gd name="adj" fmla="val 6892"/>
            </a:avLst>
          </a:prstGeom>
          <a:solidFill>
            <a:srgbClr val="FFFAFA"/>
          </a:solidFill>
          <a:ln w="22860">
            <a:solidFill>
              <a:srgbClr val="5E20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6341" y="4070033"/>
            <a:ext cx="182047" cy="1063943"/>
          </a:xfrm>
          <a:prstGeom prst="roundRect">
            <a:avLst>
              <a:gd name="adj" fmla="val 26943"/>
            </a:avLst>
          </a:prstGeom>
          <a:solidFill>
            <a:srgbClr val="5E208E"/>
          </a:solidFill>
          <a:ln/>
        </p:spPr>
      </p:sp>
      <p:sp>
        <p:nvSpPr>
          <p:cNvPr id="13" name="Text 11"/>
          <p:cNvSpPr/>
          <p:nvPr/>
        </p:nvSpPr>
        <p:spPr>
          <a:xfrm>
            <a:off x="1570434" y="4252079"/>
            <a:ext cx="263342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Capa 3 - Presentación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570434" y="4660702"/>
            <a:ext cx="12399883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Interfaces Web y Escritorio para diferentes usuarios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56611" y="5338882"/>
            <a:ext cx="12536567" cy="1109663"/>
          </a:xfrm>
          <a:prstGeom prst="roundRect">
            <a:avLst>
              <a:gd name="adj" fmla="val 6892"/>
            </a:avLst>
          </a:prstGeom>
          <a:solidFill>
            <a:srgbClr val="FFFAFA"/>
          </a:solidFill>
          <a:ln w="22860">
            <a:solidFill>
              <a:srgbClr val="5E20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79471" y="5361742"/>
            <a:ext cx="182047" cy="1063943"/>
          </a:xfrm>
          <a:prstGeom prst="roundRect">
            <a:avLst>
              <a:gd name="adj" fmla="val 26943"/>
            </a:avLst>
          </a:prstGeom>
          <a:solidFill>
            <a:srgbClr val="5E208E"/>
          </a:solidFill>
          <a:ln/>
        </p:spPr>
      </p:sp>
      <p:sp>
        <p:nvSpPr>
          <p:cNvPr id="17" name="Text 15"/>
          <p:cNvSpPr/>
          <p:nvPr/>
        </p:nvSpPr>
        <p:spPr>
          <a:xfrm>
            <a:off x="1843564" y="5543788"/>
            <a:ext cx="239589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Capa 4 - Procesos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843564" y="5952411"/>
            <a:ext cx="12126754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Automatización de recordatorios, correos y reportes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83481" y="6630591"/>
            <a:ext cx="12809696" cy="1109663"/>
          </a:xfrm>
          <a:prstGeom prst="roundRect">
            <a:avLst>
              <a:gd name="adj" fmla="val 6892"/>
            </a:avLst>
          </a:prstGeom>
          <a:solidFill>
            <a:srgbClr val="FFFAFA"/>
          </a:solidFill>
          <a:ln w="22860">
            <a:solidFill>
              <a:srgbClr val="5E20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6341" y="6653451"/>
            <a:ext cx="182047" cy="1063943"/>
          </a:xfrm>
          <a:prstGeom prst="roundRect">
            <a:avLst>
              <a:gd name="adj" fmla="val 26943"/>
            </a:avLst>
          </a:prstGeom>
          <a:solidFill>
            <a:srgbClr val="5E208E"/>
          </a:solidFill>
          <a:ln/>
        </p:spPr>
      </p:sp>
      <p:sp>
        <p:nvSpPr>
          <p:cNvPr id="21" name="Text 19"/>
          <p:cNvSpPr/>
          <p:nvPr/>
        </p:nvSpPr>
        <p:spPr>
          <a:xfrm>
            <a:off x="1570434" y="6835497"/>
            <a:ext cx="356294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Capa 5 - Seguridad (Superior)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570434" y="7244120"/>
            <a:ext cx="12399883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Autenticación JWT, CORS y control de accesos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35706"/>
            <a:ext cx="684264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Metodología de Trabajo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981682"/>
            <a:ext cx="13113782" cy="2821781"/>
          </a:xfrm>
          <a:prstGeom prst="roundRect">
            <a:avLst>
              <a:gd name="adj" fmla="val 3225"/>
            </a:avLst>
          </a:prstGeom>
          <a:solidFill>
            <a:srgbClr val="FFFAFA"/>
          </a:solidFill>
          <a:ln w="30480">
            <a:solidFill>
              <a:srgbClr val="5E20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789" y="3012162"/>
            <a:ext cx="13052822" cy="649962"/>
          </a:xfrm>
          <a:prstGeom prst="roundRect">
            <a:avLst>
              <a:gd name="adj" fmla="val 8373"/>
            </a:avLst>
          </a:prstGeom>
          <a:solidFill>
            <a:srgbClr val="5E20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2680" y="3170753"/>
            <a:ext cx="324922" cy="3249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364" y="387869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Enfoque Ágil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364" y="4364831"/>
            <a:ext cx="1261967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Reuniones periódicas (sprints/dailies)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364" y="4787265"/>
            <a:ext cx="1261967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Priorización por valor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364" y="5209699"/>
            <a:ext cx="1261967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Adaptación a cambios de requisitos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604718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84152"/>
            <a:ext cx="647831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Funcionalidades Clave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930128"/>
            <a:ext cx="4226838" cy="3515201"/>
          </a:xfrm>
          <a:prstGeom prst="roundRect">
            <a:avLst>
              <a:gd name="adj" fmla="val 2589"/>
            </a:avLst>
          </a:prstGeom>
          <a:solidFill>
            <a:srgbClr val="FFFAFA"/>
          </a:solidFill>
          <a:ln w="30480">
            <a:solidFill>
              <a:srgbClr val="5E20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789" y="2960608"/>
            <a:ext cx="4165878" cy="649962"/>
          </a:xfrm>
          <a:prstGeom prst="roundRect">
            <a:avLst>
              <a:gd name="adj" fmla="val 8373"/>
            </a:avLst>
          </a:prstGeom>
          <a:solidFill>
            <a:srgbClr val="5E20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9267" y="3119199"/>
            <a:ext cx="324922" cy="3249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364" y="382714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Clientes (Web)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364" y="4313277"/>
            <a:ext cx="37327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Agendar y cancelar citas online 24/7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364" y="5082421"/>
            <a:ext cx="37327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Comprar en la tienda (e-commerce)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01722" y="2930128"/>
            <a:ext cx="4226838" cy="3515201"/>
          </a:xfrm>
          <a:prstGeom prst="roundRect">
            <a:avLst>
              <a:gd name="adj" fmla="val 2589"/>
            </a:avLst>
          </a:prstGeom>
          <a:solidFill>
            <a:srgbClr val="FFFAFA"/>
          </a:solidFill>
          <a:ln w="30480">
            <a:solidFill>
              <a:srgbClr val="5E208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32202" y="2960608"/>
            <a:ext cx="4165878" cy="649962"/>
          </a:xfrm>
          <a:prstGeom prst="roundRect">
            <a:avLst>
              <a:gd name="adj" fmla="val 8373"/>
            </a:avLst>
          </a:prstGeom>
          <a:solidFill>
            <a:srgbClr val="5E208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2680" y="3119199"/>
            <a:ext cx="324922" cy="3249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8776" y="3827145"/>
            <a:ext cx="290453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Personal (Escritorio)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8776" y="4313277"/>
            <a:ext cx="37327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Administrar la agenda centralizada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48776" y="5082421"/>
            <a:ext cx="37327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Gestionar fichas clínicas digitales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448776" y="5851565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Controlar inventario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9645134" y="2930128"/>
            <a:ext cx="4226957" cy="3515201"/>
          </a:xfrm>
          <a:prstGeom prst="roundRect">
            <a:avLst>
              <a:gd name="adj" fmla="val 2589"/>
            </a:avLst>
          </a:prstGeom>
          <a:solidFill>
            <a:srgbClr val="FFFAFA"/>
          </a:solidFill>
          <a:ln w="30480">
            <a:solidFill>
              <a:srgbClr val="5E208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75614" y="2960608"/>
            <a:ext cx="4165997" cy="649962"/>
          </a:xfrm>
          <a:prstGeom prst="roundRect">
            <a:avLst>
              <a:gd name="adj" fmla="val 8373"/>
            </a:avLst>
          </a:prstGeom>
          <a:solidFill>
            <a:srgbClr val="5E208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6092" y="3119199"/>
            <a:ext cx="324922" cy="3249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92189" y="3827145"/>
            <a:ext cx="314063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Sistema (Automático)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892189" y="4313277"/>
            <a:ext cx="37328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Enviar recordatorios de citas por email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208" y="887730"/>
            <a:ext cx="6129218" cy="667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Riesgos y Mitigaciones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10208" y="2265521"/>
            <a:ext cx="4268033" cy="2609374"/>
          </a:xfrm>
          <a:prstGeom prst="roundRect">
            <a:avLst>
              <a:gd name="adj" fmla="val 4205"/>
            </a:avLst>
          </a:prstGeom>
          <a:solidFill>
            <a:srgbClr val="FFFAFA"/>
          </a:solidFill>
          <a:ln/>
        </p:spPr>
      </p:sp>
      <p:sp>
        <p:nvSpPr>
          <p:cNvPr id="4" name="Shape 2"/>
          <p:cNvSpPr/>
          <p:nvPr/>
        </p:nvSpPr>
        <p:spPr>
          <a:xfrm>
            <a:off x="710208" y="2242661"/>
            <a:ext cx="4268033" cy="91440"/>
          </a:xfrm>
          <a:prstGeom prst="roundRect">
            <a:avLst>
              <a:gd name="adj" fmla="val 93216"/>
            </a:avLst>
          </a:prstGeom>
          <a:solidFill>
            <a:srgbClr val="5E208E"/>
          </a:solidFill>
          <a:ln/>
        </p:spPr>
      </p:sp>
      <p:sp>
        <p:nvSpPr>
          <p:cNvPr id="5" name="Shape 3"/>
          <p:cNvSpPr/>
          <p:nvPr/>
        </p:nvSpPr>
        <p:spPr>
          <a:xfrm>
            <a:off x="2539782" y="1961198"/>
            <a:ext cx="608767" cy="608767"/>
          </a:xfrm>
          <a:prstGeom prst="roundRect">
            <a:avLst>
              <a:gd name="adj" fmla="val 150205"/>
            </a:avLst>
          </a:prstGeom>
          <a:solidFill>
            <a:srgbClr val="5E20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2424" y="2143720"/>
            <a:ext cx="243483" cy="2434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9117" y="2772847"/>
            <a:ext cx="2670215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Riesgo Técnico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35950" y="3228261"/>
            <a:ext cx="3816548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Problema: Fallos en integración API/FullCalendar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35950" y="3999548"/>
            <a:ext cx="3816548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Mitigación: Pruebas en Staging, uso de mocks, revisión de endpoints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181124" y="2265521"/>
            <a:ext cx="4268033" cy="2609374"/>
          </a:xfrm>
          <a:prstGeom prst="roundRect">
            <a:avLst>
              <a:gd name="adj" fmla="val 4205"/>
            </a:avLst>
          </a:prstGeom>
          <a:solidFill>
            <a:srgbClr val="FF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5181124" y="2242661"/>
            <a:ext cx="4268033" cy="91440"/>
          </a:xfrm>
          <a:prstGeom prst="roundRect">
            <a:avLst>
              <a:gd name="adj" fmla="val 93216"/>
            </a:avLst>
          </a:prstGeom>
          <a:solidFill>
            <a:srgbClr val="5E208E"/>
          </a:solidFill>
          <a:ln/>
        </p:spPr>
      </p:sp>
      <p:sp>
        <p:nvSpPr>
          <p:cNvPr id="12" name="Shape 9"/>
          <p:cNvSpPr/>
          <p:nvPr/>
        </p:nvSpPr>
        <p:spPr>
          <a:xfrm>
            <a:off x="7010698" y="1961198"/>
            <a:ext cx="608767" cy="608767"/>
          </a:xfrm>
          <a:prstGeom prst="roundRect">
            <a:avLst>
              <a:gd name="adj" fmla="val 150205"/>
            </a:avLst>
          </a:prstGeom>
          <a:solidFill>
            <a:srgbClr val="5E208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3340" y="2143720"/>
            <a:ext cx="243483" cy="2434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80033" y="2772847"/>
            <a:ext cx="2670215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Riesgo Operacional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5406866" y="3228261"/>
            <a:ext cx="3816548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Problema: Baja adopción del personal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406866" y="3999548"/>
            <a:ext cx="3816548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Mitigación: Capacitación, manual, UAT guiado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9652040" y="2265521"/>
            <a:ext cx="4268153" cy="2609374"/>
          </a:xfrm>
          <a:prstGeom prst="roundRect">
            <a:avLst>
              <a:gd name="adj" fmla="val 4205"/>
            </a:avLst>
          </a:prstGeom>
          <a:solidFill>
            <a:srgbClr val="FFFAFA"/>
          </a:solidFill>
          <a:ln/>
        </p:spPr>
      </p:sp>
      <p:sp>
        <p:nvSpPr>
          <p:cNvPr id="18" name="Shape 14"/>
          <p:cNvSpPr/>
          <p:nvPr/>
        </p:nvSpPr>
        <p:spPr>
          <a:xfrm>
            <a:off x="9652040" y="2242661"/>
            <a:ext cx="4268153" cy="91440"/>
          </a:xfrm>
          <a:prstGeom prst="roundRect">
            <a:avLst>
              <a:gd name="adj" fmla="val 93216"/>
            </a:avLst>
          </a:prstGeom>
          <a:solidFill>
            <a:srgbClr val="5E208E"/>
          </a:solidFill>
          <a:ln/>
        </p:spPr>
      </p:sp>
      <p:sp>
        <p:nvSpPr>
          <p:cNvPr id="19" name="Shape 15"/>
          <p:cNvSpPr/>
          <p:nvPr/>
        </p:nvSpPr>
        <p:spPr>
          <a:xfrm>
            <a:off x="11481733" y="1961198"/>
            <a:ext cx="608767" cy="608767"/>
          </a:xfrm>
          <a:prstGeom prst="roundRect">
            <a:avLst>
              <a:gd name="adj" fmla="val 150205"/>
            </a:avLst>
          </a:prstGeom>
          <a:solidFill>
            <a:srgbClr val="5E208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64375" y="2143720"/>
            <a:ext cx="243483" cy="24348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392013" y="2772847"/>
            <a:ext cx="2788206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Riesgo de Seguridad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9877782" y="3228261"/>
            <a:ext cx="3816668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Problema: Vulnerabilidades OWASP/JWT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9877782" y="3999548"/>
            <a:ext cx="3816668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Mitigación: Checklist OWASP, pruebas, logs</a:t>
            </a:r>
            <a:endParaRPr lang="en-US" sz="1550" dirty="0"/>
          </a:p>
        </p:txBody>
      </p:sp>
      <p:sp>
        <p:nvSpPr>
          <p:cNvPr id="24" name="Shape 19"/>
          <p:cNvSpPr/>
          <p:nvPr/>
        </p:nvSpPr>
        <p:spPr>
          <a:xfrm>
            <a:off x="710208" y="5382101"/>
            <a:ext cx="6503551" cy="1959769"/>
          </a:xfrm>
          <a:prstGeom prst="roundRect">
            <a:avLst>
              <a:gd name="adj" fmla="val 5599"/>
            </a:avLst>
          </a:prstGeom>
          <a:solidFill>
            <a:srgbClr val="FFFAFA"/>
          </a:solidFill>
          <a:ln/>
        </p:spPr>
      </p:sp>
      <p:sp>
        <p:nvSpPr>
          <p:cNvPr id="25" name="Shape 20"/>
          <p:cNvSpPr/>
          <p:nvPr/>
        </p:nvSpPr>
        <p:spPr>
          <a:xfrm>
            <a:off x="710208" y="5359241"/>
            <a:ext cx="6503551" cy="91440"/>
          </a:xfrm>
          <a:prstGeom prst="roundRect">
            <a:avLst>
              <a:gd name="adj" fmla="val 93216"/>
            </a:avLst>
          </a:prstGeom>
          <a:solidFill>
            <a:srgbClr val="5E208E"/>
          </a:solidFill>
          <a:ln/>
        </p:spPr>
      </p:sp>
      <p:sp>
        <p:nvSpPr>
          <p:cNvPr id="26" name="Shape 21"/>
          <p:cNvSpPr/>
          <p:nvPr/>
        </p:nvSpPr>
        <p:spPr>
          <a:xfrm>
            <a:off x="3657540" y="5077778"/>
            <a:ext cx="608767" cy="608767"/>
          </a:xfrm>
          <a:prstGeom prst="roundRect">
            <a:avLst>
              <a:gd name="adj" fmla="val 150205"/>
            </a:avLst>
          </a:prstGeom>
          <a:solidFill>
            <a:srgbClr val="5E208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0182" y="5260300"/>
            <a:ext cx="243483" cy="24348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626876" y="5889427"/>
            <a:ext cx="2670215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Riesgo de Plazos</a:t>
            </a:r>
            <a:endParaRPr lang="en-US" sz="2100" dirty="0"/>
          </a:p>
        </p:txBody>
      </p:sp>
      <p:sp>
        <p:nvSpPr>
          <p:cNvPr id="29" name="Text 23"/>
          <p:cNvSpPr/>
          <p:nvPr/>
        </p:nvSpPr>
        <p:spPr>
          <a:xfrm>
            <a:off x="935950" y="6344841"/>
            <a:ext cx="6052066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Problema: Retraso en módulos críticos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35950" y="6791325"/>
            <a:ext cx="6052066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Mitigación: Buffer de sprint, priorización, control diario</a:t>
            </a:r>
            <a:endParaRPr lang="en-US" sz="1550" dirty="0"/>
          </a:p>
        </p:txBody>
      </p:sp>
      <p:sp>
        <p:nvSpPr>
          <p:cNvPr id="31" name="Shape 25"/>
          <p:cNvSpPr/>
          <p:nvPr/>
        </p:nvSpPr>
        <p:spPr>
          <a:xfrm>
            <a:off x="7416641" y="5382101"/>
            <a:ext cx="6503551" cy="1959769"/>
          </a:xfrm>
          <a:prstGeom prst="roundRect">
            <a:avLst>
              <a:gd name="adj" fmla="val 5599"/>
            </a:avLst>
          </a:prstGeom>
          <a:solidFill>
            <a:srgbClr val="FFFAFA"/>
          </a:solidFill>
          <a:ln/>
        </p:spPr>
      </p:sp>
      <p:sp>
        <p:nvSpPr>
          <p:cNvPr id="32" name="Shape 26"/>
          <p:cNvSpPr/>
          <p:nvPr/>
        </p:nvSpPr>
        <p:spPr>
          <a:xfrm>
            <a:off x="7416641" y="5359241"/>
            <a:ext cx="6503551" cy="91440"/>
          </a:xfrm>
          <a:prstGeom prst="roundRect">
            <a:avLst>
              <a:gd name="adj" fmla="val 93216"/>
            </a:avLst>
          </a:prstGeom>
          <a:solidFill>
            <a:srgbClr val="5E208E"/>
          </a:solidFill>
          <a:ln/>
        </p:spPr>
      </p:sp>
      <p:sp>
        <p:nvSpPr>
          <p:cNvPr id="33" name="Shape 27"/>
          <p:cNvSpPr/>
          <p:nvPr/>
        </p:nvSpPr>
        <p:spPr>
          <a:xfrm>
            <a:off x="10363974" y="5077778"/>
            <a:ext cx="608767" cy="608767"/>
          </a:xfrm>
          <a:prstGeom prst="roundRect">
            <a:avLst>
              <a:gd name="adj" fmla="val 150205"/>
            </a:avLst>
          </a:prstGeom>
          <a:solidFill>
            <a:srgbClr val="5E208E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46616" y="5260300"/>
            <a:ext cx="243483" cy="24348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333309" y="5889427"/>
            <a:ext cx="2670215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Riesgo Externo</a:t>
            </a:r>
            <a:endParaRPr lang="en-US" sz="2100" dirty="0"/>
          </a:p>
        </p:txBody>
      </p:sp>
      <p:sp>
        <p:nvSpPr>
          <p:cNvPr id="36" name="Text 29"/>
          <p:cNvSpPr/>
          <p:nvPr/>
        </p:nvSpPr>
        <p:spPr>
          <a:xfrm>
            <a:off x="7642384" y="6344841"/>
            <a:ext cx="6052066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Problema: Cambios de requerimientos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7642384" y="6791325"/>
            <a:ext cx="6052066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Mitigación: Gestión de cambios, acuerdos semanales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7661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Resultados y Demo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622590"/>
            <a:ext cx="6448544" cy="1661636"/>
          </a:xfrm>
          <a:prstGeom prst="roundRect">
            <a:avLst>
              <a:gd name="adj" fmla="val 5476"/>
            </a:avLst>
          </a:prstGeom>
          <a:solidFill>
            <a:srgbClr val="D5DCF6"/>
          </a:solidFill>
          <a:ln w="7620">
            <a:solidFill>
              <a:srgbClr val="5E20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504" y="2846784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5E20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1217" y="3025497"/>
            <a:ext cx="292418" cy="2924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504" y="3713321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Sistema funcional Web + Escritorio + API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3428" y="2622590"/>
            <a:ext cx="6448663" cy="1661636"/>
          </a:xfrm>
          <a:prstGeom prst="roundRect">
            <a:avLst>
              <a:gd name="adj" fmla="val 5476"/>
            </a:avLst>
          </a:prstGeom>
          <a:solidFill>
            <a:srgbClr val="D5DCF6"/>
          </a:solidFill>
          <a:ln w="7620">
            <a:solidFill>
              <a:srgbClr val="5E208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47623" y="2846784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5E208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6335" y="3025497"/>
            <a:ext cx="292418" cy="2924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47623" y="3713321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Procesos de agenda y fichas clínicas digitalizados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58309" y="4500801"/>
            <a:ext cx="13113782" cy="1661636"/>
          </a:xfrm>
          <a:prstGeom prst="roundRect">
            <a:avLst>
              <a:gd name="adj" fmla="val 5476"/>
            </a:avLst>
          </a:prstGeom>
          <a:solidFill>
            <a:srgbClr val="D5DCF6"/>
          </a:solidFill>
          <a:ln w="7620">
            <a:solidFill>
              <a:srgbClr val="5E208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82504" y="4724995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5E208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1217" y="4903708"/>
            <a:ext cx="292418" cy="2924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2504" y="5591532"/>
            <a:ext cx="126653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Base para futuras integraciones (WhatsApp, reportes avanzados)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58309" y="640615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continuación se presenta la demostración del sistema en funcionamiento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58522"/>
            <a:ext cx="1022318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Sistema de escritorio Akuna No Pet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604498"/>
            <a:ext cx="3899892" cy="2166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58522"/>
            <a:ext cx="936629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Carrito de compra Akuna No Pet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604498"/>
            <a:ext cx="3899892" cy="2166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58522"/>
            <a:ext cx="105669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Agendamiento de cita Akuna No Pet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604498"/>
            <a:ext cx="3899892" cy="21665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0786" y="448389"/>
            <a:ext cx="8232815" cy="536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Experiencia de Usuario (UX) mejorada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70786" y="1229439"/>
            <a:ext cx="13488829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 la frustración a la autonomía: un salto cualitativo en la interacción entre la clínica y sus clientes.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70786" y="1918335"/>
            <a:ext cx="6662857" cy="5969198"/>
          </a:xfrm>
          <a:prstGeom prst="roundRect">
            <a:avLst>
              <a:gd name="adj" fmla="val 1838"/>
            </a:avLst>
          </a:prstGeom>
          <a:solidFill>
            <a:srgbClr val="FFFAFA"/>
          </a:solidFill>
          <a:ln/>
        </p:spPr>
      </p:sp>
      <p:sp>
        <p:nvSpPr>
          <p:cNvPr id="5" name="Shape 3"/>
          <p:cNvSpPr/>
          <p:nvPr/>
        </p:nvSpPr>
        <p:spPr>
          <a:xfrm>
            <a:off x="570786" y="1895475"/>
            <a:ext cx="6662857" cy="91440"/>
          </a:xfrm>
          <a:prstGeom prst="roundRect">
            <a:avLst>
              <a:gd name="adj" fmla="val 74909"/>
            </a:avLst>
          </a:prstGeom>
          <a:solidFill>
            <a:srgbClr val="5E208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1673781"/>
            <a:ext cx="489228" cy="489228"/>
          </a:xfrm>
          <a:prstGeom prst="roundRect">
            <a:avLst>
              <a:gd name="adj" fmla="val 186907"/>
            </a:avLst>
          </a:prstGeom>
          <a:solidFill>
            <a:srgbClr val="5E208E"/>
          </a:solidFill>
          <a:ln/>
        </p:spPr>
      </p:sp>
      <p:sp>
        <p:nvSpPr>
          <p:cNvPr id="7" name="Text 5"/>
          <p:cNvSpPr/>
          <p:nvPr/>
        </p:nvSpPr>
        <p:spPr>
          <a:xfrm>
            <a:off x="3804345" y="1796058"/>
            <a:ext cx="195620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29282" y="2326005"/>
            <a:ext cx="2145863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Antes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6642" y="2691884"/>
            <a:ext cx="6291143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Llamadas interminables, esperas en línea, confirmaciones manuales y propensas a errores vía WhatsApp.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42" y="3397210"/>
            <a:ext cx="6291143" cy="430446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96639" y="1918335"/>
            <a:ext cx="6662976" cy="5969198"/>
          </a:xfrm>
          <a:prstGeom prst="roundRect">
            <a:avLst>
              <a:gd name="adj" fmla="val 1838"/>
            </a:avLst>
          </a:prstGeom>
          <a:solidFill>
            <a:srgbClr val="FFFAFA"/>
          </a:solidFill>
          <a:ln/>
        </p:spPr>
      </p:sp>
      <p:sp>
        <p:nvSpPr>
          <p:cNvPr id="12" name="Shape 9"/>
          <p:cNvSpPr/>
          <p:nvPr/>
        </p:nvSpPr>
        <p:spPr>
          <a:xfrm>
            <a:off x="7396639" y="1895475"/>
            <a:ext cx="6662976" cy="91440"/>
          </a:xfrm>
          <a:prstGeom prst="roundRect">
            <a:avLst>
              <a:gd name="adj" fmla="val 74909"/>
            </a:avLst>
          </a:prstGeom>
          <a:solidFill>
            <a:srgbClr val="5E208E"/>
          </a:solidFill>
          <a:ln/>
        </p:spPr>
      </p:sp>
      <p:sp>
        <p:nvSpPr>
          <p:cNvPr id="13" name="Shape 10"/>
          <p:cNvSpPr/>
          <p:nvPr/>
        </p:nvSpPr>
        <p:spPr>
          <a:xfrm>
            <a:off x="10483513" y="1673781"/>
            <a:ext cx="489228" cy="489228"/>
          </a:xfrm>
          <a:prstGeom prst="roundRect">
            <a:avLst>
              <a:gd name="adj" fmla="val 186907"/>
            </a:avLst>
          </a:prstGeom>
          <a:solidFill>
            <a:srgbClr val="5E208E"/>
          </a:solidFill>
          <a:ln/>
        </p:spPr>
      </p:sp>
      <p:sp>
        <p:nvSpPr>
          <p:cNvPr id="14" name="Text 11"/>
          <p:cNvSpPr/>
          <p:nvPr/>
        </p:nvSpPr>
        <p:spPr>
          <a:xfrm>
            <a:off x="10630317" y="1796058"/>
            <a:ext cx="195620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55135" y="2326005"/>
            <a:ext cx="2145863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Ahora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582495" y="2691884"/>
            <a:ext cx="6291263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Autonomía total: Iniciar sesión -&gt; Seleccionar Servicio -&gt; Confirmar cita. Simple y rápido.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495" y="3397210"/>
            <a:ext cx="6291263" cy="430446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0786" y="8070890"/>
            <a:ext cx="13488829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Además, un e-commerce integrado permite comprar productos cómodamente al mismo tiempo que se gestionan las citas.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393" y="523637"/>
            <a:ext cx="7811214" cy="125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Victorias técnicas y de negocio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6393" y="2061924"/>
            <a:ext cx="7811214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Akuma no Pet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no solo moderniza, sino que también impulsa el crecimiento y la estabilidad de tu clínica.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6393" y="3170753"/>
            <a:ext cx="3810357" cy="2334816"/>
          </a:xfrm>
          <a:prstGeom prst="roundRect">
            <a:avLst>
              <a:gd name="adj" fmla="val 4700"/>
            </a:avLst>
          </a:prstGeom>
          <a:solidFill>
            <a:srgbClr val="FF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6393" y="3147893"/>
            <a:ext cx="3810357" cy="91440"/>
          </a:xfrm>
          <a:prstGeom prst="roundRect">
            <a:avLst>
              <a:gd name="adj" fmla="val 87463"/>
            </a:avLst>
          </a:prstGeom>
          <a:solidFill>
            <a:srgbClr val="5E208E"/>
          </a:solidFill>
          <a:ln/>
        </p:spPr>
      </p:sp>
      <p:sp>
        <p:nvSpPr>
          <p:cNvPr id="7" name="Shape 4"/>
          <p:cNvSpPr/>
          <p:nvPr/>
        </p:nvSpPr>
        <p:spPr>
          <a:xfrm>
            <a:off x="2285940" y="2885242"/>
            <a:ext cx="571143" cy="571143"/>
          </a:xfrm>
          <a:prstGeom prst="roundRect">
            <a:avLst>
              <a:gd name="adj" fmla="val 160100"/>
            </a:avLst>
          </a:prstGeom>
          <a:solidFill>
            <a:srgbClr val="5E208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7271" y="3056453"/>
            <a:ext cx="228481" cy="2284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9634" y="3646765"/>
            <a:ext cx="2505432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Excelencia técnica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879634" y="4074081"/>
            <a:ext cx="3383875" cy="1218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 sistema modular, escalable y fácil de mantener, garantizando la sostenibilidad a largo plazo de la inversión.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667131" y="3170753"/>
            <a:ext cx="3810476" cy="2334816"/>
          </a:xfrm>
          <a:prstGeom prst="roundRect">
            <a:avLst>
              <a:gd name="adj" fmla="val 4700"/>
            </a:avLst>
          </a:prstGeom>
          <a:solidFill>
            <a:srgbClr val="FFFAFA"/>
          </a:solidFill>
          <a:ln/>
        </p:spPr>
      </p:sp>
      <p:sp>
        <p:nvSpPr>
          <p:cNvPr id="12" name="Shape 8"/>
          <p:cNvSpPr/>
          <p:nvPr/>
        </p:nvSpPr>
        <p:spPr>
          <a:xfrm>
            <a:off x="4667131" y="3147893"/>
            <a:ext cx="3810476" cy="91440"/>
          </a:xfrm>
          <a:prstGeom prst="roundRect">
            <a:avLst>
              <a:gd name="adj" fmla="val 87463"/>
            </a:avLst>
          </a:prstGeom>
          <a:solidFill>
            <a:srgbClr val="5E208E"/>
          </a:solidFill>
          <a:ln/>
        </p:spPr>
      </p:sp>
      <p:sp>
        <p:nvSpPr>
          <p:cNvPr id="13" name="Shape 9"/>
          <p:cNvSpPr/>
          <p:nvPr/>
        </p:nvSpPr>
        <p:spPr>
          <a:xfrm>
            <a:off x="6286798" y="2885242"/>
            <a:ext cx="571143" cy="571143"/>
          </a:xfrm>
          <a:prstGeom prst="roundRect">
            <a:avLst>
              <a:gd name="adj" fmla="val 160100"/>
            </a:avLst>
          </a:prstGeom>
          <a:solidFill>
            <a:srgbClr val="5E208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8129" y="3056453"/>
            <a:ext cx="228481" cy="2284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80372" y="3646765"/>
            <a:ext cx="2799755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Expansión de negocio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4880372" y="4074081"/>
            <a:ext cx="3383994" cy="1218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Apertura de un nuevo canal de ventas 24/7 y una notable mejora en la retención de clientes gracias a la experiencia digital.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66393" y="5981462"/>
            <a:ext cx="7811214" cy="1725692"/>
          </a:xfrm>
          <a:prstGeom prst="roundRect">
            <a:avLst>
              <a:gd name="adj" fmla="val 6358"/>
            </a:avLst>
          </a:prstGeom>
          <a:solidFill>
            <a:srgbClr val="FFFAFA"/>
          </a:solidFill>
          <a:ln/>
        </p:spPr>
      </p:sp>
      <p:sp>
        <p:nvSpPr>
          <p:cNvPr id="18" name="Shape 13"/>
          <p:cNvSpPr/>
          <p:nvPr/>
        </p:nvSpPr>
        <p:spPr>
          <a:xfrm>
            <a:off x="666393" y="5958602"/>
            <a:ext cx="7811214" cy="91440"/>
          </a:xfrm>
          <a:prstGeom prst="roundRect">
            <a:avLst>
              <a:gd name="adj" fmla="val 87463"/>
            </a:avLst>
          </a:prstGeom>
          <a:solidFill>
            <a:srgbClr val="5E208E"/>
          </a:solidFill>
          <a:ln/>
        </p:spPr>
      </p:sp>
      <p:sp>
        <p:nvSpPr>
          <p:cNvPr id="19" name="Shape 14"/>
          <p:cNvSpPr/>
          <p:nvPr/>
        </p:nvSpPr>
        <p:spPr>
          <a:xfrm>
            <a:off x="4286429" y="5695950"/>
            <a:ext cx="571143" cy="571143"/>
          </a:xfrm>
          <a:prstGeom prst="roundRect">
            <a:avLst>
              <a:gd name="adj" fmla="val 160100"/>
            </a:avLst>
          </a:prstGeom>
          <a:solidFill>
            <a:srgbClr val="5E208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7760" y="5867162"/>
            <a:ext cx="228481" cy="22848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9634" y="6457474"/>
            <a:ext cx="363188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Decisiones basadas en datos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879634" y="6884789"/>
            <a:ext cx="7384733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 establece una base sólida para el análisis de datos, permitiendo tomar decisiones estratégicas futuras con confianza.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8681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Futuras Mejoras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22444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Roadmap de mejoras: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0043160" y="2814876"/>
            <a:ext cx="30480" cy="4227909"/>
          </a:xfrm>
          <a:prstGeom prst="roundRect">
            <a:avLst>
              <a:gd name="adj" fmla="val 298550"/>
            </a:avLst>
          </a:prstGeom>
          <a:solidFill>
            <a:srgbClr val="7739A7"/>
          </a:solidFill>
          <a:ln/>
        </p:spPr>
      </p:sp>
      <p:sp>
        <p:nvSpPr>
          <p:cNvPr id="6" name="Shape 3"/>
          <p:cNvSpPr/>
          <p:nvPr/>
        </p:nvSpPr>
        <p:spPr>
          <a:xfrm>
            <a:off x="9195197" y="3043357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7739A7"/>
          </a:solidFill>
          <a:ln/>
        </p:spPr>
      </p:sp>
      <p:sp>
        <p:nvSpPr>
          <p:cNvPr id="7" name="Shape 4"/>
          <p:cNvSpPr/>
          <p:nvPr/>
        </p:nvSpPr>
        <p:spPr>
          <a:xfrm>
            <a:off x="9814679" y="281487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5E208E"/>
          </a:solidFill>
          <a:ln w="7620">
            <a:solidFill>
              <a:srgbClr val="7739A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7367" y="2887563"/>
            <a:ext cx="342067" cy="342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4709" y="2889290"/>
            <a:ext cx="273046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ChatBot via whatsapp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244709" y="3731657"/>
            <a:ext cx="27304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Confirmaciones y recordatorios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10271641" y="4343162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7739A7"/>
          </a:solidFill>
          <a:ln/>
        </p:spPr>
      </p:sp>
      <p:sp>
        <p:nvSpPr>
          <p:cNvPr id="12" name="Shape 8"/>
          <p:cNvSpPr/>
          <p:nvPr/>
        </p:nvSpPr>
        <p:spPr>
          <a:xfrm>
            <a:off x="9814679" y="411468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5E208E"/>
          </a:solidFill>
          <a:ln w="7620">
            <a:solidFill>
              <a:srgbClr val="7739A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7367" y="4187369"/>
            <a:ext cx="342067" cy="342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41631" y="4189095"/>
            <a:ext cx="273046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Reportes avanzados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1141631" y="5031462"/>
            <a:ext cx="27304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Dashboards de ventas y atención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9195197" y="5463540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7739A7"/>
          </a:solidFill>
          <a:ln/>
        </p:spPr>
      </p:sp>
      <p:sp>
        <p:nvSpPr>
          <p:cNvPr id="17" name="Shape 12"/>
          <p:cNvSpPr/>
          <p:nvPr/>
        </p:nvSpPr>
        <p:spPr>
          <a:xfrm>
            <a:off x="9814679" y="523505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5E208E"/>
          </a:solidFill>
          <a:ln w="7620">
            <a:solidFill>
              <a:srgbClr val="7739A7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87367" y="5307747"/>
            <a:ext cx="342067" cy="34206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44709" y="5309473"/>
            <a:ext cx="273046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Sistema de fidelización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244709" y="6151840"/>
            <a:ext cx="27304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Puntos y descuentos automáticos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78153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5E208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Conclusión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819162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"Una propuesta para que las clínicas pasen de la improvisación a la gestión profesional."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69631" y="4000024"/>
            <a:ext cx="730246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 tecnología no es solo código; es el motor clave para mejorar la relación con los clientes, optimizar operaciones y potenciar la rentabilidad de tu clínica veterinaria.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44709" y="3756303"/>
            <a:ext cx="30480" cy="1527572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7" name="Shape 4"/>
          <p:cNvSpPr/>
          <p:nvPr/>
        </p:nvSpPr>
        <p:spPr>
          <a:xfrm>
            <a:off x="6244709" y="5527596"/>
            <a:ext cx="7627382" cy="920472"/>
          </a:xfrm>
          <a:prstGeom prst="roundRect">
            <a:avLst>
              <a:gd name="adj" fmla="val 9886"/>
            </a:avLst>
          </a:prstGeom>
          <a:solidFill>
            <a:srgbClr val="5E208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284" y="5852517"/>
            <a:ext cx="270748" cy="2165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8607" y="5798225"/>
            <a:ext cx="670691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¡Akuma no Pet: el futuro de tu clínica comienza hoy!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2025-12-02T14:49:51Z</dcterms:created>
  <dcterms:modified xsi:type="dcterms:W3CDTF">2025-12-02T14:49:51Z</dcterms:modified>
</cp:coreProperties>
</file>